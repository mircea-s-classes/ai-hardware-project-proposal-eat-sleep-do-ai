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8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68400" y="1521460"/>
            <a:ext cx="9799320" cy="2298065"/>
          </a:xfrm>
        </p:spPr>
        <p:txBody>
          <a:bodyPr>
            <a:noAutofit/>
          </a:bodyPr>
          <a:p>
            <a:r>
              <a:rPr lang="en-US" altLang="zh-CN" sz="4000" b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Towards Efficient Deep Neural Network Deployment:</a:t>
            </a:r>
            <a:br>
              <a:rPr lang="en-US" altLang="zh-CN" sz="4000" b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</a:br>
            <a:r>
              <a:rPr lang="en-US" altLang="zh-CN" sz="4000" b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Supporting Diverse Quantization in the TVM Compiler</a:t>
            </a:r>
            <a:endParaRPr lang="en-US" altLang="zh-CN" sz="4000" b="1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4307205"/>
            <a:ext cx="9799320" cy="954405"/>
          </a:xfrm>
        </p:spPr>
        <p:txBody>
          <a:bodyPr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Group Name: Eat, Sleep, Do AI</a:t>
            </a:r>
            <a:endParaRPr lang="en-US" altLang="zh-CN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Group Member:Liangtao Dai, Elton Jhang, Haonan Ke,Xinwei Li</a:t>
            </a:r>
            <a:endParaRPr lang="en-US" altLang="zh-CN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9775"/>
            <a:ext cx="10969200" cy="705600"/>
          </a:xfrm>
        </p:spPr>
        <p:txBody>
          <a:bodyPr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55" y="1821815"/>
            <a:ext cx="3945255" cy="22599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1524635"/>
            <a:ext cx="5353685" cy="511365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810250" y="871855"/>
            <a:ext cx="10160" cy="5741035"/>
          </a:xfrm>
          <a:prstGeom prst="line">
            <a:avLst/>
          </a:prstGeom>
          <a:ln w="31750" cap="rnd">
            <a:solidFill>
              <a:srgbClr val="C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00545" y="1040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Machine Learning Compiler</a:t>
            </a:r>
            <a:endParaRPr lang="en-US" altLang="zh-CN" b="1"/>
          </a:p>
        </p:txBody>
      </p:sp>
      <p:sp>
        <p:nvSpPr>
          <p:cNvPr id="14" name="文本框 13"/>
          <p:cNvSpPr txBox="1"/>
          <p:nvPr/>
        </p:nvSpPr>
        <p:spPr>
          <a:xfrm>
            <a:off x="666115" y="1088390"/>
            <a:ext cx="4913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Efficient Machine Learning Algorithm </a:t>
            </a:r>
            <a:endParaRPr lang="en-US" altLang="zh-CN" b="1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155" y="4227830"/>
            <a:ext cx="3919220" cy="22275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41700"/>
            <a:ext cx="10969200" cy="705600"/>
          </a:xfrm>
        </p:spPr>
        <p:txBody>
          <a:bodyPr/>
          <a:p>
            <a:r>
              <a:rPr lang="en-US" altLang="zh-CN" b="1"/>
              <a:t>Challenges</a:t>
            </a:r>
            <a:endParaRPr lang="en-US" altLang="zh-CN" b="1"/>
          </a:p>
        </p:txBody>
      </p:sp>
      <p:sp>
        <p:nvSpPr>
          <p:cNvPr id="8" name="圆角矩形 7"/>
          <p:cNvSpPr/>
          <p:nvPr/>
        </p:nvSpPr>
        <p:spPr>
          <a:xfrm>
            <a:off x="523875" y="1455420"/>
            <a:ext cx="5485765" cy="1501775"/>
          </a:xfrm>
          <a:prstGeom prst="roundRect">
            <a:avLst>
              <a:gd name="adj" fmla="val 3526"/>
            </a:avLst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090" y="1735455"/>
            <a:ext cx="4727575" cy="28530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55840" y="4740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TVM Compilation Flow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450850" y="3696970"/>
            <a:ext cx="5564505" cy="279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Problems when deploying quantized model</a:t>
            </a:r>
            <a:br>
              <a:rPr lang="en-US" altLang="zh-CN" sz="2000" b="1"/>
            </a:br>
            <a:br>
              <a:rPr lang="en-US" altLang="zh-CN" sz="2000" b="1"/>
            </a:br>
            <a:r>
              <a:rPr lang="en-US" altLang="zh-CN" sz="2000" b="1"/>
              <a:t>1. Limited datatype, precision and granularity support</a:t>
            </a:r>
            <a:endParaRPr lang="zh-CN" altLang="en-US" sz="2000" b="1"/>
          </a:p>
          <a:p>
            <a:endParaRPr lang="en-US" altLang="zh-CN" sz="2000" b="1"/>
          </a:p>
          <a:p>
            <a:r>
              <a:rPr lang="en-US" altLang="zh-CN" sz="2000" b="1"/>
              <a:t>2. Expanding Optimization design space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/>
              <a:t>3. Hardware mismatch</a:t>
            </a:r>
            <a:endParaRPr lang="en-US" altLang="zh-CN" sz="2000" b="1"/>
          </a:p>
        </p:txBody>
      </p:sp>
      <p:sp>
        <p:nvSpPr>
          <p:cNvPr id="13" name="圆角矩形 12"/>
          <p:cNvSpPr/>
          <p:nvPr/>
        </p:nvSpPr>
        <p:spPr>
          <a:xfrm>
            <a:off x="6798945" y="1446530"/>
            <a:ext cx="5020310" cy="3832860"/>
          </a:xfrm>
          <a:prstGeom prst="roundRect">
            <a:avLst>
              <a:gd name="adj" fmla="val 3526"/>
            </a:avLst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5996305" y="1866900"/>
            <a:ext cx="1040765" cy="200025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/>
          <p:nvPr/>
        </p:nvPicPr>
        <p:blipFill>
          <a:blip r:embed="rId3"/>
          <a:stretch>
            <a:fillRect/>
          </a:stretch>
        </p:blipFill>
        <p:spPr>
          <a:xfrm>
            <a:off x="3466465" y="5690870"/>
            <a:ext cx="690245" cy="690245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3"/>
          <a:stretch>
            <a:fillRect/>
          </a:stretch>
        </p:blipFill>
        <p:spPr>
          <a:xfrm>
            <a:off x="5465445" y="5071745"/>
            <a:ext cx="690245" cy="690245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3"/>
          <a:stretch>
            <a:fillRect/>
          </a:stretch>
        </p:blipFill>
        <p:spPr>
          <a:xfrm>
            <a:off x="4807585" y="4238625"/>
            <a:ext cx="690245" cy="690245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31800" y="3660775"/>
            <a:ext cx="5724525" cy="2755265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2966085" y="2976245"/>
            <a:ext cx="530860" cy="67119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 rot="5400000">
            <a:off x="6238240" y="4112895"/>
            <a:ext cx="482600" cy="63119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1539240"/>
            <a:ext cx="5307965" cy="13030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/>
              <a:t>Proposed Solution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039620"/>
            <a:ext cx="4696460" cy="23158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79440" y="1963420"/>
            <a:ext cx="5011420" cy="2346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Methods: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1. Quantization-aware </a:t>
            </a:r>
            <a:r>
              <a:rPr lang="en-US" altLang="zh-CN" b="1"/>
              <a:t>Transformation Pass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2. Efficient Compilation Flow Auto-Tuner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3. End-to-end TVM-based Quantizied Nerual Network Compilation Framework</a:t>
            </a:r>
            <a:endParaRPr lang="en-US" altLang="zh-CN" b="1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422255" y="2423160"/>
            <a:ext cx="831850" cy="45974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1895" y="3027680"/>
            <a:ext cx="831850" cy="45974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10462895" y="3705860"/>
            <a:ext cx="831850" cy="4597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551805" y="1856740"/>
            <a:ext cx="6062980" cy="2710815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278890" y="5309870"/>
            <a:ext cx="8110855" cy="89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+mn-ea"/>
              </a:rPr>
              <a:t>Towards Efficient Deep Neural Network Deployment:</a:t>
            </a:r>
            <a:endParaRPr lang="en-US" altLang="zh-CN" sz="2400" b="1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+mn-ea"/>
            </a:endParaRPr>
          </a:p>
          <a:p>
            <a:r>
              <a:rPr lang="en-US" altLang="zh-CN" sz="2400" b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+mn-ea"/>
              </a:rPr>
              <a:t>Supporting Diverse Quantization in the TVM Compiler</a:t>
            </a:r>
            <a:endParaRPr lang="en-US" altLang="zh-CN" sz="2400" b="1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4"/>
          <a:srcRect l="2913" t="15743" r="3041" b="17590"/>
          <a:stretch>
            <a:fillRect/>
          </a:stretch>
        </p:blipFill>
        <p:spPr>
          <a:xfrm>
            <a:off x="9308465" y="5267325"/>
            <a:ext cx="875665" cy="887095"/>
          </a:xfrm>
          <a:prstGeom prst="rect">
            <a:avLst/>
          </a:prstGeom>
        </p:spPr>
      </p:pic>
      <p:sp>
        <p:nvSpPr>
          <p:cNvPr id="16" name="下箭头 15"/>
          <p:cNvSpPr/>
          <p:nvPr/>
        </p:nvSpPr>
        <p:spPr>
          <a:xfrm>
            <a:off x="7331710" y="4567555"/>
            <a:ext cx="469265" cy="630555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74750" y="5229860"/>
            <a:ext cx="9247505" cy="97409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" name="内容占位符 4"/>
          <p:cNvSpPr/>
          <p:nvPr>
            <p:custDataLst>
              <p:tags r:id="rId1"/>
            </p:custDataLst>
          </p:nvPr>
        </p:nvSpPr>
        <p:spPr>
          <a:xfrm>
            <a:off x="608330" y="1490345"/>
            <a:ext cx="7073900" cy="17862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Diverse Quantization Methods</a:t>
            </a:r>
            <a:endParaRPr lang="en-US" altLang="zh-CN" sz="2400" b="1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Datatype: Floating-point, Integer, Posit, Customized .....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Precision: INT8, INT4, E4M3, E5M2 ......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Granularity: Per-group, Per-channel, Per-layer......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WPS 演示</Application>
  <PresentationFormat>宽屏</PresentationFormat>
  <Paragraphs>39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WPS</vt:lpstr>
      <vt:lpstr>Towards Efficient Deep Neural Network Deployment: Supporting Diverse Quantization in the TVM Compiler</vt:lpstr>
      <vt:lpstr>Background</vt:lpstr>
      <vt:lpstr>Challenges</vt:lpstr>
      <vt:lpstr>Proposed Solution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戴良韬</cp:lastModifiedBy>
  <cp:revision>328</cp:revision>
  <dcterms:created xsi:type="dcterms:W3CDTF">2019-06-19T02:08:00Z</dcterms:created>
  <dcterms:modified xsi:type="dcterms:W3CDTF">2025-11-05T04:30:58Z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642638F29BF74F55BD139D1CC67366A2_11</vt:lpwstr>
  </property>
</Properties>
</file>